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This is the story of this year's harvest, from the first nets in October to the oil on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too early and the oil is bitter; too late and it loses its colour. Ask who has picked olives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mill opens at six. Mention the numbers on the next slide come from the spreadsheet.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families who helped with the nets. Hand out the tasting cups.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E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live grove.jpg"/>
          <p:cNvPicPr>
            <a:picLocks noChangeAspect="1"/>
          </p:cNvPicPr>
          <p:nvPr/>
        </p:nvPicPr>
        <p:blipFill>
          <a:blip r:embed="rId2"/>
          <a:srcRect l="22222" r="2222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200000"/>
            <a:ext cx="52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BF6EC"/>
                </a:solidFill>
              </a:rPr>
              <a:t>From grove to bottle</a:t>
            </a:r>
          </a:p>
          <a:p>
            <a:r>
              <a:rPr sz="2400">
                <a:solidFill>
                  <a:srgbClr val="FBF6EC"/>
                </a:solidFill>
              </a:rPr>
              <a:t>The 2026 olive harvest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5E3A"/>
                </a:solidFill>
              </a:rPr>
              <a:t>When to pick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6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Olives turn from green to violet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We start in late October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Six groves, 235 trees</a:t>
            </a:r>
          </a:p>
        </p:txBody>
      </p:sp>
      <p:pic>
        <p:nvPicPr>
          <p:cNvPr id="5" name="Picture 4" descr="Morning at Balos.jpg"/>
          <p:cNvPicPr>
            <a:picLocks noChangeAspect="1"/>
          </p:cNvPicPr>
          <p:nvPr/>
        </p:nvPicPr>
        <p:blipFill>
          <a:blip r:embed="rId2"/>
          <a:srcRect l="7465" r="7465"/>
          <a:stretch>
            <a:fillRect/>
          </a:stretch>
        </p:blipFill>
        <p:spPr>
          <a:xfrm>
            <a:off x="6700000" y="1500000"/>
            <a:ext cx="49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5E3A"/>
                </a:solidFill>
              </a:rPr>
              <a:t>At the mill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6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Pressed within a day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5.2 kg of olives for one litre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Cold extraction below 27 °C</a:t>
            </a:r>
          </a:p>
        </p:txBody>
      </p:sp>
      <p:pic>
        <p:nvPicPr>
          <p:cNvPr id="5" name="Picture 4" descr="Sunset over Chania.jpg"/>
          <p:cNvPicPr>
            <a:picLocks noChangeAspect="1"/>
          </p:cNvPicPr>
          <p:nvPr/>
        </p:nvPicPr>
        <p:blipFill>
          <a:blip r:embed="rId2"/>
          <a:srcRect l="7465" r="7465"/>
          <a:stretch>
            <a:fillRect/>
          </a:stretch>
        </p:blipFill>
        <p:spPr>
          <a:xfrm>
            <a:off x="6700000" y="1500000"/>
            <a:ext cx="49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2E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E5E3A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10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Questions?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222B22"/>
                </a:solidFill>
              </a:rPr>
              <a:t>•  Oil for the school fair: 40 litres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